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4A5C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3B4A5C"/>
                </a:solidFill>
                <a:latin typeface="Calibri"/>
              </a:rPr>
              <a:t>Time vs vector size (s)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Sequential</c:v>
                </c:pt>
              </c:strCache>
            </c:strRef>
          </c:tx>
          <c:spPr>
            <a:solidFill>
              <a:srgbClr val="A8B2BD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100K</c:v>
                </c:pt>
                <c:pt idx="1">
                  <c:v>1M</c:v>
                </c:pt>
                <c:pt idx="2">
                  <c:v>10M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2.3699999999999999E-4</c:v>
                </c:pt>
                <c:pt idx="1">
                  <c:v>3.0209999999999998E-3</c:v>
                </c:pt>
                <c:pt idx="2">
                  <c:v>3.0084E-2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4D-4E35-B502-951C2A40E6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OpenMP</c:v>
                </c:pt>
              </c:strCache>
            </c:strRef>
          </c:tx>
          <c:spPr>
            <a:solidFill>
              <a:srgbClr val="5E8C8A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100K</c:v>
                </c:pt>
                <c:pt idx="1">
                  <c:v>1M</c:v>
                </c:pt>
                <c:pt idx="2">
                  <c:v>10M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1.6487000000000002E-2</c:v>
                </c:pt>
                <c:pt idx="1">
                  <c:v>1.189E-2</c:v>
                </c:pt>
                <c:pt idx="2">
                  <c:v>2.3356999999999999E-2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4D-4E35-B502-951C2A40E6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6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4A5C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3B4A5C"/>
                </a:solidFill>
                <a:latin typeface="Calibri"/>
              </a:rPr>
              <a:t>Time vs threads, N = 10M (s)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OpenMP time (s)</c:v>
                </c:pt>
              </c:strCache>
            </c:strRef>
          </c:tx>
          <c:spPr>
            <a:ln w="38100" cap="flat">
              <a:solidFill>
                <a:srgbClr val="5E8C8A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5E8C8A"/>
              </a:solidFill>
              <a:ln w="9525" cap="flat">
                <a:solidFill>
                  <a:srgbClr val="5E8C8A"/>
                </a:solidFill>
                <a:prstDash val="solid"/>
                <a:round/>
              </a:ln>
              <a:effectLst/>
            </c:spPr>
          </c:marker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2.9162E-2</c:v>
                </c:pt>
                <c:pt idx="1">
                  <c:v>1.5311999999999999E-2</c:v>
                </c:pt>
                <c:pt idx="2">
                  <c:v>8.6610000000000003E-3</c:v>
                </c:pt>
                <c:pt idx="3">
                  <c:v>2.3318999999999999E-2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18-4BA4-A403-AC776DB7938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000000"/>
                    </a:solidFill>
                    <a:latin typeface="Arial"/>
                  </a:rPr>
                  <a:t>Threads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6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4A5C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3B4A5C"/>
                </a:solidFill>
                <a:latin typeface="Calibri"/>
              </a:rPr>
              <a:t>Speedup vs threads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Measured</c:v>
                </c:pt>
              </c:strCache>
            </c:strRef>
          </c:tx>
          <c:spPr>
            <a:ln w="38100" cap="flat">
              <a:solidFill>
                <a:srgbClr val="5E8C8A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5E8C8A"/>
              </a:solidFill>
              <a:ln w="9525" cap="flat">
                <a:solidFill>
                  <a:srgbClr val="5E8C8A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1.9</c:v>
                </c:pt>
                <c:pt idx="2">
                  <c:v>3.37</c:v>
                </c:pt>
                <c:pt idx="3">
                  <c:v>1.25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F6-4D87-86BC-23A4172946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Ideal</c:v>
                </c:pt>
              </c:strCache>
            </c:strRef>
          </c:tx>
          <c:spPr>
            <a:ln w="38100" cap="flat">
              <a:solidFill>
                <a:srgbClr val="B8C0C8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B8C0C8"/>
              </a:solidFill>
              <a:ln w="9525" cap="flat">
                <a:solidFill>
                  <a:srgbClr val="B8C0C8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F6-4D87-86BC-23A4172946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000000"/>
                    </a:solidFill>
                    <a:latin typeface="Arial"/>
                  </a:rPr>
                  <a:t>Threads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6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4A5C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3B4A5C"/>
                </a:solidFill>
                <a:latin typeface="Calibri"/>
              </a:rPr>
              <a:t>Efficiency (%) vs threads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Efficiency (%)</c:v>
                </c:pt>
              </c:strCache>
            </c:strRef>
          </c:tx>
          <c:spPr>
            <a:ln w="38100" cap="flat">
              <a:solidFill>
                <a:srgbClr val="3B4A5C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3B4A5C"/>
              </a:solidFill>
              <a:ln w="9525" cap="flat">
                <a:solidFill>
                  <a:srgbClr val="3B4A5C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95.2</c:v>
                </c:pt>
                <c:pt idx="2">
                  <c:v>84.2</c:v>
                </c:pt>
                <c:pt idx="3">
                  <c:v>15.6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A8C-4095-83B3-77F88DAB9E6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000000"/>
                    </a:solidFill>
                    <a:latin typeface="Arial"/>
                  </a:rPr>
                  <a:t>Threads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9525" cap="flat">
              <a:solidFill>
                <a:srgbClr val="E3E6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7457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graph: effect of data size. Right graph: effect of thread count at N = 10M. Point out the 8-thread slowdown.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Speedup is measured against the 1-thread OpenMP run. Ideal speedup equals the thread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Efficiency tells how well each thread is used. 100% means perfect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097280" cy="0"/>
          </a:xfrm>
          <a:prstGeom prst="line">
            <a:avLst/>
          </a:prstGeom>
          <a:noFill/>
          <a:ln w="38100">
            <a:solidFill>
              <a:srgbClr val="5E8C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3B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Vector Addition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3B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OpenMP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Computing Mini-Project  |  Lab Evaluation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 |  B.Tech CSE (AI &amp; Engineering), 3rd Year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745005"/>
              </p:ext>
            </p:extLst>
          </p:nvPr>
        </p:nvGraphicFramePr>
        <p:xfrm>
          <a:off x="822960" y="2834640"/>
          <a:ext cx="4754880" cy="1574175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5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B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B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Bhakti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01FE24BCI079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01FE24BCI004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Soumya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01FE24BCI005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01FE24BCI085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 &amp; Sequential Algorithm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0"/>
          </a:xfrm>
          <a:prstGeom prst="line">
            <a:avLst/>
          </a:prstGeom>
          <a:noFill/>
          <a:ln w="31750">
            <a:solidFill>
              <a:srgbClr val="5E8C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914400"/>
            <a:ext cx="6949440" cy="0"/>
          </a:xfrm>
          <a:prstGeom prst="line">
            <a:avLst/>
          </a:prstGeom>
          <a:noFill/>
          <a:ln w="9525">
            <a:solidFill>
              <a:srgbClr val="D5DA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 |  Parallel Vector Addition (OpenMP)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3444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add two large vectors A and B element by element to get C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C[i] = A[i] + B[i] for i = 0 … N-1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 O(N); every element is independent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reduce execution time using multiple threads and measure speedup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840480" cy="3017520"/>
          </a:xfrm>
          <a:prstGeom prst="rect">
            <a:avLst/>
          </a:prstGeom>
          <a:solidFill>
            <a:srgbClr val="EEF1F0"/>
          </a:solidFill>
          <a:ln w="9525">
            <a:solidFill>
              <a:srgbClr val="D5DA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234440"/>
            <a:ext cx="54864" cy="3017520"/>
          </a:xfrm>
          <a:prstGeom prst="rect">
            <a:avLst/>
          </a:prstGeom>
          <a:solidFill>
            <a:srgbClr val="5E8C8A"/>
          </a:solidFill>
          <a:ln w="12700">
            <a:solidFill>
              <a:srgbClr val="5E8C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1344168"/>
            <a:ext cx="342900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sequential baseline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N; i++) {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C[i] = A[i] + B[i];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timing</a:t>
            </a:r>
          </a:p>
          <a:p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gcc sequential.c -o sequential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Parallel Design (OpenMP)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0"/>
          </a:xfrm>
          <a:prstGeom prst="line">
            <a:avLst/>
          </a:prstGeom>
          <a:noFill/>
          <a:ln w="31750">
            <a:solidFill>
              <a:srgbClr val="5E8C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914400"/>
            <a:ext cx="6949440" cy="0"/>
          </a:xfrm>
          <a:prstGeom prst="line">
            <a:avLst/>
          </a:prstGeom>
          <a:noFill/>
          <a:ln w="9525">
            <a:solidFill>
              <a:srgbClr val="D5DA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 |  Parallel Vector Addition (OpenMP)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41474"/>
            <a:ext cx="4114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Shared-memory model: all threads see A, B and C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dependency between iterations, so the loop is data-parallel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race conditions: each thread writes a different C[i]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Thread count controlled using </a:t>
            </a:r>
            <a:r>
              <a:rPr lang="en-IN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num_threads</a:t>
            </a: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(T)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0" y="1234440"/>
            <a:ext cx="3566160" cy="685800"/>
          </a:xfrm>
          <a:prstGeom prst="rect">
            <a:avLst/>
          </a:prstGeom>
          <a:solidFill>
            <a:srgbClr val="EEF1F0"/>
          </a:solidFill>
          <a:ln w="9525">
            <a:solidFill>
              <a:srgbClr val="D5DA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1234440"/>
            <a:ext cx="54864" cy="685800"/>
          </a:xfrm>
          <a:prstGeom prst="rect">
            <a:avLst/>
          </a:prstGeom>
          <a:solidFill>
            <a:srgbClr val="5E8C8A"/>
          </a:solidFill>
          <a:ln w="12700">
            <a:solidFill>
              <a:srgbClr val="5E8C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57800" y="12344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0 … N/4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2057400"/>
            <a:ext cx="3566160" cy="685800"/>
          </a:xfrm>
          <a:prstGeom prst="rect">
            <a:avLst/>
          </a:prstGeom>
          <a:solidFill>
            <a:srgbClr val="EEF1F0"/>
          </a:solidFill>
          <a:ln w="9525">
            <a:solidFill>
              <a:srgbClr val="D5DA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2057400"/>
            <a:ext cx="54864" cy="685800"/>
          </a:xfrm>
          <a:prstGeom prst="rect">
            <a:avLst/>
          </a:prstGeom>
          <a:solidFill>
            <a:srgbClr val="5E8C8A"/>
          </a:solidFill>
          <a:ln w="12700">
            <a:solidFill>
              <a:srgbClr val="5E8C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57800" y="20574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N/4 … N/2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2880360"/>
            <a:ext cx="3566160" cy="685800"/>
          </a:xfrm>
          <a:prstGeom prst="rect">
            <a:avLst/>
          </a:prstGeom>
          <a:solidFill>
            <a:srgbClr val="EEF1F0"/>
          </a:solidFill>
          <a:ln w="9525">
            <a:solidFill>
              <a:srgbClr val="D5DA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2880360"/>
            <a:ext cx="54864" cy="685800"/>
          </a:xfrm>
          <a:prstGeom prst="rect">
            <a:avLst/>
          </a:prstGeom>
          <a:solidFill>
            <a:srgbClr val="5E8C8A"/>
          </a:solidFill>
          <a:ln w="12700">
            <a:solidFill>
              <a:srgbClr val="5E8C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57800" y="2880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N/2 … 3N/4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3703320"/>
            <a:ext cx="3566160" cy="685800"/>
          </a:xfrm>
          <a:prstGeom prst="rect">
            <a:avLst/>
          </a:prstGeom>
          <a:solidFill>
            <a:srgbClr val="EEF1F0"/>
          </a:solidFill>
          <a:ln w="9525">
            <a:solidFill>
              <a:srgbClr val="D5DA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3703320"/>
            <a:ext cx="54864" cy="685800"/>
          </a:xfrm>
          <a:prstGeom prst="rect">
            <a:avLst/>
          </a:prstGeom>
          <a:solidFill>
            <a:srgbClr val="5E8C8A"/>
          </a:solidFill>
          <a:ln w="12700">
            <a:solidFill>
              <a:srgbClr val="5E8C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57800" y="37033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3N/4 … 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Implementation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0"/>
          </a:xfrm>
          <a:prstGeom prst="line">
            <a:avLst/>
          </a:prstGeom>
          <a:noFill/>
          <a:ln w="31750">
            <a:solidFill>
              <a:srgbClr val="5E8C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914400"/>
            <a:ext cx="6949440" cy="0"/>
          </a:xfrm>
          <a:prstGeom prst="line">
            <a:avLst/>
          </a:prstGeom>
          <a:noFill/>
          <a:ln w="9525">
            <a:solidFill>
              <a:srgbClr val="D5DA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 |  Parallel Vector Addition (OpenMP)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4663440" cy="3291840"/>
          </a:xfrm>
          <a:prstGeom prst="rect">
            <a:avLst/>
          </a:prstGeom>
          <a:solidFill>
            <a:srgbClr val="EEF1F0"/>
          </a:solidFill>
          <a:ln w="9525">
            <a:solidFill>
              <a:srgbClr val="D5DA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234440"/>
            <a:ext cx="54864" cy="3291840"/>
          </a:xfrm>
          <a:prstGeom prst="rect">
            <a:avLst/>
          </a:prstGeom>
          <a:solidFill>
            <a:srgbClr val="5E8C8A"/>
          </a:solidFill>
          <a:ln w="12700">
            <a:solidFill>
              <a:srgbClr val="5E8C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344168"/>
            <a:ext cx="425196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</a:t>
            </a:r>
            <a:r>
              <a:rPr lang="en-US" sz="1300" dirty="0" err="1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omp.h</a:t>
            </a:r>
            <a:r>
              <a:rPr lang="en-US" sz="13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</a:p>
          <a:p>
            <a:endParaRPr lang="en-US" sz="1300" dirty="0">
              <a:solidFill>
                <a:srgbClr val="2B344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start = </a:t>
            </a:r>
            <a:r>
              <a:rPr lang="en-US" sz="1300" dirty="0" err="1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omp_get_wtime</a:t>
            </a:r>
            <a:r>
              <a:rPr lang="en-US" sz="13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</a:p>
          <a:p>
            <a:endParaRPr lang="en-US" sz="1300" dirty="0">
              <a:solidFill>
                <a:srgbClr val="2B344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</a:t>
            </a:r>
            <a:r>
              <a:rPr lang="en-US" sz="1300" dirty="0" err="1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omp</a:t>
            </a:r>
            <a:r>
              <a:rPr lang="en-US" sz="13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parallel for</a:t>
            </a:r>
          </a:p>
          <a:p>
            <a:r>
              <a:rPr lang="en-US" sz="13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</a:t>
            </a:r>
            <a:r>
              <a:rPr lang="en-US" sz="1300" dirty="0" err="1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0; </a:t>
            </a:r>
            <a:r>
              <a:rPr lang="en-US" sz="1300" dirty="0" err="1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N; </a:t>
            </a:r>
            <a:r>
              <a:rPr lang="en-US" sz="1300" dirty="0" err="1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</a:p>
          <a:p>
            <a:r>
              <a:rPr lang="en-US" sz="13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C[</a:t>
            </a:r>
            <a:r>
              <a:rPr lang="en-US" sz="1300" dirty="0" err="1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A[</a:t>
            </a:r>
            <a:r>
              <a:rPr lang="en-US" sz="1300" dirty="0" err="1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+ B[</a:t>
            </a:r>
            <a:r>
              <a:rPr lang="en-US" sz="1300" dirty="0" err="1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</a:p>
          <a:p>
            <a:endParaRPr lang="en-US" sz="1300" dirty="0">
              <a:solidFill>
                <a:srgbClr val="2B344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end = </a:t>
            </a:r>
            <a:r>
              <a:rPr lang="en-US" sz="1300" dirty="0" err="1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omp_get_wtime</a:t>
            </a:r>
            <a:r>
              <a:rPr lang="en-US" sz="13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</a:p>
          <a:p>
            <a:endParaRPr lang="en-US" sz="1300" dirty="0">
              <a:solidFill>
                <a:srgbClr val="2B344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//Compile:</a:t>
            </a:r>
          </a:p>
          <a:p>
            <a:r>
              <a:rPr lang="en-US" sz="1300" dirty="0" err="1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</a:t>
            </a:r>
            <a:r>
              <a:rPr lang="en-US" sz="13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</a:t>
            </a:r>
            <a:r>
              <a:rPr lang="en-US" sz="1300" dirty="0" err="1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fopenmp</a:t>
            </a:r>
            <a:r>
              <a:rPr lang="en-US" sz="13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 err="1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parallel.c</a:t>
            </a:r>
            <a:r>
              <a:rPr lang="en-US" sz="13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-o parallel</a:t>
            </a:r>
          </a:p>
          <a:p>
            <a:endParaRPr lang="en-US" sz="1300" dirty="0">
              <a:solidFill>
                <a:srgbClr val="2B344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3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Run:</a:t>
            </a:r>
          </a:p>
          <a:p>
            <a:r>
              <a:rPr lang="en-US" sz="1300" dirty="0">
                <a:solidFill>
                  <a:srgbClr val="2B3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./parallel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234439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with –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fopenmp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Vector sizes and thread counts were varied manually during experiments.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verified against sequential output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Timings saved to results./*csv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Experiments &amp; Measured Data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0"/>
          </a:xfrm>
          <a:prstGeom prst="line">
            <a:avLst/>
          </a:prstGeom>
          <a:noFill/>
          <a:ln w="31750">
            <a:solidFill>
              <a:srgbClr val="5E8C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914400"/>
            <a:ext cx="6949440" cy="0"/>
          </a:xfrm>
          <a:prstGeom prst="line">
            <a:avLst/>
          </a:prstGeom>
          <a:noFill/>
          <a:ln w="9525">
            <a:solidFill>
              <a:srgbClr val="D5DA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 |  Parallel Vector Addition (OpenMP)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1: data size (default threads)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3840480" cy="153619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0.000237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0.016487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0.003021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0.011890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0.030084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0.023357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66344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2: thread count (N = 10,000,000)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3931920" cy="19202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B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0.029162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0.015312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0.008661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3.37x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0.023319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3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3703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S = T(1) / T(p)     Efficiency E = S / p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/>
              <a:t>Best result: 4 threads, 0.008661 s (3.37× speedup over 1 thread).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Program Output (Screenshots)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0"/>
          </a:xfrm>
          <a:prstGeom prst="line">
            <a:avLst/>
          </a:prstGeom>
          <a:noFill/>
          <a:ln w="31750">
            <a:solidFill>
              <a:srgbClr val="5E8C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914400"/>
            <a:ext cx="6949440" cy="0"/>
          </a:xfrm>
          <a:prstGeom prst="line">
            <a:avLst/>
          </a:prstGeom>
          <a:noFill/>
          <a:ln w="9525">
            <a:solidFill>
              <a:srgbClr val="D5DA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 |  Parallel Vector Addition (OpenMP)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12064" y="1335024"/>
            <a:ext cx="3913632" cy="1190383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8"/>
            </a:solidFill>
            <a:prstDash val="solid"/>
          </a:ln>
        </p:spPr>
      </p:sp>
      <p:pic>
        <p:nvPicPr>
          <p:cNvPr id="8" name="Image 0" descr="/mnt/user-data/uploads/1791397704194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3840480" cy="111723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59855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size experiment: terminal output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26864" y="1152144"/>
            <a:ext cx="4005072" cy="257139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8"/>
            </a:solidFill>
            <a:prstDash val="solid"/>
          </a:ln>
        </p:spPr>
      </p:sp>
      <p:pic>
        <p:nvPicPr>
          <p:cNvPr id="11" name="Image 1" descr="/mnt/user-data/uploads/1791397713662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88720"/>
            <a:ext cx="3931920" cy="249824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379669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size and thread count results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670157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5F5"/>
                </a:solidFill>
              </a:defRPr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rogram Output Evidence — Data Size Experiments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8046720" cy="18288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242648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7D7D7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Sequential — 100K</a:t>
            </a:r>
          </a:p>
        </p:txBody>
      </p:sp>
      <p:pic>
        <p:nvPicPr>
          <p:cNvPr id="5" name="Picture 4" descr="sequential_100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33856"/>
            <a:ext cx="3639312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15968" y="932688"/>
            <a:ext cx="1148071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7D7D7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Sequential — 1M</a:t>
            </a:r>
          </a:p>
        </p:txBody>
      </p:sp>
      <p:pic>
        <p:nvPicPr>
          <p:cNvPr id="7" name="Picture 6" descr="sequential_1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133856"/>
            <a:ext cx="3639312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267712"/>
            <a:ext cx="121700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7D7D7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Sequential — 10M</a:t>
            </a:r>
          </a:p>
        </p:txBody>
      </p:sp>
      <p:pic>
        <p:nvPicPr>
          <p:cNvPr id="9" name="Picture 8" descr="sequential_10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68880"/>
            <a:ext cx="3639312" cy="1097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15968" y="2267712"/>
            <a:ext cx="1140056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7D7D7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OpenMP — 100K</a:t>
            </a:r>
          </a:p>
        </p:txBody>
      </p:sp>
      <p:pic>
        <p:nvPicPr>
          <p:cNvPr id="11" name="Picture 10" descr="parallel_100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2468880"/>
            <a:ext cx="3639312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3602736"/>
            <a:ext cx="104547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7D7D7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OpenMP — 1M</a:t>
            </a:r>
          </a:p>
        </p:txBody>
      </p:sp>
      <p:pic>
        <p:nvPicPr>
          <p:cNvPr id="13" name="Picture 12" descr="parallel_1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803904"/>
            <a:ext cx="3639312" cy="1097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4663440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Experiment output 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0848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5F5"/>
                </a:solidFill>
              </a:defRPr>
            </a:pP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Program Output Evidence — OpenMP &amp; Thread Count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8046720" cy="18288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4408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7D7D7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OpenMP — 10M</a:t>
            </a:r>
          </a:p>
        </p:txBody>
      </p:sp>
      <p:pic>
        <p:nvPicPr>
          <p:cNvPr id="5" name="Picture 4" descr="parallel_10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33856"/>
            <a:ext cx="3639312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15968" y="932688"/>
            <a:ext cx="135165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7D7D7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OpenMP — 1 Thread</a:t>
            </a:r>
          </a:p>
        </p:txBody>
      </p:sp>
      <p:pic>
        <p:nvPicPr>
          <p:cNvPr id="7" name="Picture 6" descr="parallel_Thread-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133856"/>
            <a:ext cx="3639312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267712"/>
            <a:ext cx="1406154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7D7D7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OpenMP — 2 Threads</a:t>
            </a:r>
          </a:p>
        </p:txBody>
      </p:sp>
      <p:pic>
        <p:nvPicPr>
          <p:cNvPr id="9" name="Picture 8" descr="parallel_Thread- 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68880"/>
            <a:ext cx="3639312" cy="1097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15968" y="2267712"/>
            <a:ext cx="1406154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7D7D7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OpenMP — 4 Threads</a:t>
            </a:r>
          </a:p>
        </p:txBody>
      </p:sp>
      <p:pic>
        <p:nvPicPr>
          <p:cNvPr id="11" name="Picture 10" descr="parallel_Thread- 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2468880"/>
            <a:ext cx="3639312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3602736"/>
            <a:ext cx="1406154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7D7D7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OpenMP — 8 Threads</a:t>
            </a:r>
          </a:p>
        </p:txBody>
      </p:sp>
      <p:pic>
        <p:nvPicPr>
          <p:cNvPr id="13" name="Picture 12" descr="parallel_Thread- 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803904"/>
            <a:ext cx="3639312" cy="1097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4663440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Experiment output evidence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Execution Time Graphs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0"/>
          </a:xfrm>
          <a:prstGeom prst="line">
            <a:avLst/>
          </a:prstGeom>
          <a:noFill/>
          <a:ln w="31750">
            <a:solidFill>
              <a:srgbClr val="5E8C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914400"/>
            <a:ext cx="6949440" cy="0"/>
          </a:xfrm>
          <a:prstGeom prst="line">
            <a:avLst/>
          </a:prstGeom>
          <a:noFill/>
          <a:ln w="9525">
            <a:solidFill>
              <a:srgbClr val="D5DA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 |  Parallel Vector Addition (OpenMP)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051560"/>
          <a:ext cx="41148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4663440" y="1051560"/>
          <a:ext cx="40233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4023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is slower than sequential for 100K and 1M elements (thread overhead), and only wins at 10M.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754880" y="4023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falls from 0.0292 s to 0.0087 s at 4 threads, then rises to 0.0233 s at 8 threads.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Speedup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0"/>
          </a:xfrm>
          <a:prstGeom prst="line">
            <a:avLst/>
          </a:prstGeom>
          <a:noFill/>
          <a:ln w="31750">
            <a:solidFill>
              <a:srgbClr val="5E8C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914400"/>
            <a:ext cx="6949440" cy="0"/>
          </a:xfrm>
          <a:prstGeom prst="line">
            <a:avLst/>
          </a:prstGeom>
          <a:noFill/>
          <a:ln w="9525">
            <a:solidFill>
              <a:srgbClr val="D5DA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 |  Parallel Vector Addition (OpenMP)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051560"/>
          <a:ext cx="41148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846320" y="3591643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071403" y="195713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S = T(1) / T(p). At 4 threads: 0.029162 / 0.008661 = 3.37x, the best result and close to ideal (4x). At 8 threads speedup falls to 1.25x.</a:t>
            </a:r>
          </a:p>
          <a:p>
            <a:pPr marL="0" indent="0">
              <a:buNone/>
            </a:pPr>
            <a:endParaRPr lang="en-US" sz="1200" dirty="0">
              <a:solidFill>
                <a:srgbClr val="2B34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IN" sz="1200" dirty="0"/>
              <a:t>"3.37× speedup over the 1-thread execution."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Efficiency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0"/>
          </a:xfrm>
          <a:prstGeom prst="line">
            <a:avLst/>
          </a:prstGeom>
          <a:noFill/>
          <a:ln w="31750">
            <a:solidFill>
              <a:srgbClr val="5E8C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914400"/>
            <a:ext cx="6949440" cy="0"/>
          </a:xfrm>
          <a:prstGeom prst="line">
            <a:avLst/>
          </a:prstGeom>
          <a:noFill/>
          <a:ln w="9525">
            <a:solidFill>
              <a:srgbClr val="D5DA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 |  Parallel Vector Addition (OpenMP)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051560"/>
          <a:ext cx="41148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84632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E = S / p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5544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threads: 1.90 / 2 = 95.2%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threads: 3.37 / 4 = 84.2%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threads: 1.25 / 8 = 15.6%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274320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drops as threads are added: each thread does less work while overhead stays.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8 threads most of the time is overhead and memory contention, so efficiency collapses.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 for this machine: 4 threads.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Result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0"/>
          </a:xfrm>
          <a:prstGeom prst="line">
            <a:avLst/>
          </a:prstGeom>
          <a:noFill/>
          <a:ln w="31750">
            <a:solidFill>
              <a:srgbClr val="5E8C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914400"/>
            <a:ext cx="6949440" cy="0"/>
          </a:xfrm>
          <a:prstGeom prst="line">
            <a:avLst/>
          </a:prstGeom>
          <a:noFill/>
          <a:ln w="9525">
            <a:solidFill>
              <a:srgbClr val="D5DA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 |  Parallel Vector Addition (OpenMP)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 (100K, 1M): OpenMP was slower than sequential. Thread creation and scheduling cost more than the tiny workload.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 elements: OpenMP (0.0234 s) finally beat sequential (0.0301 s), but only by about 1.3x.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scaling: 2 threads gave 1.90x (95% efficient) and 4 threads gave 3.37x (84%), close to ideal.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threads was slower than 4 (1.25x, 15.6% efficiency). Overhead, CPU scheduling and shared memory bandwidth limit the gain.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addition does very little work per element, so it is memory-bound. More threads cannot fix that.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Conclusion &amp; Demo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0"/>
          </a:xfrm>
          <a:prstGeom prst="line">
            <a:avLst/>
          </a:prstGeom>
          <a:noFill/>
          <a:ln w="31750">
            <a:solidFill>
              <a:srgbClr val="5E8C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914400"/>
            <a:ext cx="6949440" cy="0"/>
          </a:xfrm>
          <a:prstGeom prst="line">
            <a:avLst/>
          </a:prstGeom>
          <a:noFill/>
          <a:ln w="9525">
            <a:solidFill>
              <a:srgbClr val="D5DA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 |  Parallel Vector Addition (OpenMP)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3444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speeds up vector addition with one pragma, but only for large N.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configuration: 4 threads, 3.37x speedup, 84.2% efficiency.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threads is not always faster: 8 threads performed worse than 4.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run sequential vs parallel, show timings and graphs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B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repo: README, src/, data/, results/, graphs/, presentation/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1080</Words>
  <Application>Microsoft Office PowerPoint</Application>
  <PresentationFormat>On-screen Show (16:9)</PresentationFormat>
  <Paragraphs>182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Vector Addition using OpenMP</dc:title>
  <dc:subject>PptxGenJS Presentation</dc:subject>
  <dc:creator>PptxGenJS</dc:creator>
  <cp:lastModifiedBy>bhaktithane2616@gmail.com</cp:lastModifiedBy>
  <cp:revision>5</cp:revision>
  <dcterms:created xsi:type="dcterms:W3CDTF">2026-10-07T18:38:47Z</dcterms:created>
  <dcterms:modified xsi:type="dcterms:W3CDTF">2026-10-08T06:38:26Z</dcterms:modified>
</cp:coreProperties>
</file>